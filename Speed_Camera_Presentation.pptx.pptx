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56" r:id="rId2"/>
    <p:sldId id="257" r:id="rId3"/>
    <p:sldId id="258" r:id="rId4"/>
    <p:sldId id="259" r:id="rId5"/>
    <p:sldId id="262" r:id="rId6"/>
    <p:sldId id="260" r:id="rId7"/>
    <p:sldId id="261"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GB"/>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tx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21104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92332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GB"/>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tx1">
                    <a:lumMod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11044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382572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92065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7757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5029645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GB"/>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29578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73346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0906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168699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862798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672198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GB"/>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236109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GB"/>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383445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255378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GB"/>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54627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4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48A87A34-81AB-432B-8DAE-1953F412C126}" type="datetimeFigureOut">
              <a:rPr lang="en-US" smtClean="0"/>
              <a:pPr/>
              <a:t>4/21/2026</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091240101"/>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outerShdw blurRad="38100" dist="38100" dir="2700000" algn="tl">
              <a:srgbClr val="000000">
                <a:alpha val="43137"/>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outerShdw blurRad="47625" dist="12700" dir="2700000" algn="tl" rotWithShape="0">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outerShdw blurRad="47625" dist="12700" dir="2700000" algn="tl" rotWithShape="0">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outerShdw blurRad="47625" dist="12700" dir="2700000" algn="tl" rotWithShape="0">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outerShdw blurRad="47625" dist="12700" dir="2700000" algn="tl" rotWithShape="0">
              <a:srgbClr val="000000">
                <a:alpha val="36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0C271-D3F8-F798-9327-E2EF3ACF3A3B}"/>
              </a:ext>
            </a:extLst>
          </p:cNvPr>
          <p:cNvSpPr>
            <a:spLocks noGrp="1"/>
          </p:cNvSpPr>
          <p:nvPr>
            <p:ph type="ctrTitle"/>
          </p:nvPr>
        </p:nvSpPr>
        <p:spPr>
          <a:xfrm>
            <a:off x="1751012" y="2364891"/>
            <a:ext cx="8689976" cy="2128215"/>
          </a:xfrm>
        </p:spPr>
        <p:txBody>
          <a:bodyPr/>
          <a:lstStyle/>
          <a:p>
            <a:r>
              <a:rPr lang="en-US" dirty="0">
                <a:latin typeface="Algerian" panose="04020705040A02060702" pitchFamily="82" charset="0"/>
              </a:rPr>
              <a:t>Simulation of a speed camera detection system</a:t>
            </a:r>
          </a:p>
        </p:txBody>
      </p:sp>
      <p:sp>
        <p:nvSpPr>
          <p:cNvPr id="3" name="Subtitle 2">
            <a:extLst>
              <a:ext uri="{FF2B5EF4-FFF2-40B4-BE49-F238E27FC236}">
                <a16:creationId xmlns:a16="http://schemas.microsoft.com/office/drawing/2014/main" id="{EF25BFC9-3739-647B-FDD9-BE2C9D176221}"/>
              </a:ext>
            </a:extLst>
          </p:cNvPr>
          <p:cNvSpPr>
            <a:spLocks noGrp="1"/>
          </p:cNvSpPr>
          <p:nvPr>
            <p:ph type="subTitle" idx="1"/>
          </p:nvPr>
        </p:nvSpPr>
        <p:spPr>
          <a:xfrm>
            <a:off x="1751012" y="3429001"/>
            <a:ext cx="8689976" cy="3193472"/>
          </a:xfrm>
        </p:spPr>
        <p:txBody>
          <a:bodyPr/>
          <a:lstStyle/>
          <a:p>
            <a:r>
              <a:rPr lang="en-US" cap="none" dirty="0">
                <a:solidFill>
                  <a:schemeClr val="tx1"/>
                </a:solidFill>
                <a:latin typeface="Algerian" panose="04020705040A02060702" pitchFamily="82" charset="0"/>
              </a:rPr>
              <a:t>                     </a:t>
            </a:r>
          </a:p>
          <a:p>
            <a:pPr algn="r"/>
            <a:r>
              <a:rPr lang="en-US" cap="none" dirty="0">
                <a:solidFill>
                  <a:schemeClr val="accent6">
                    <a:lumMod val="50000"/>
                  </a:schemeClr>
                </a:solidFill>
                <a:latin typeface="Algerian" panose="04020705040A02060702" pitchFamily="82" charset="0"/>
              </a:rPr>
              <a:t>  </a:t>
            </a:r>
            <a:r>
              <a:rPr lang="en-US" b="1" cap="none" dirty="0">
                <a:solidFill>
                  <a:schemeClr val="accent6">
                    <a:lumMod val="50000"/>
                  </a:schemeClr>
                </a:solidFill>
              </a:rPr>
              <a:t>        </a:t>
            </a:r>
            <a:endParaRPr lang="en-US" b="1" cap="none" dirty="0">
              <a:solidFill>
                <a:schemeClr val="tx1"/>
              </a:solidFill>
            </a:endParaRPr>
          </a:p>
        </p:txBody>
      </p:sp>
    </p:spTree>
    <p:extLst>
      <p:ext uri="{BB962C8B-B14F-4D97-AF65-F5344CB8AC3E}">
        <p14:creationId xmlns:p14="http://schemas.microsoft.com/office/powerpoint/2010/main" val="2769797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CB129-3EBA-E3AB-0F01-1243B0A94F52}"/>
              </a:ext>
            </a:extLst>
          </p:cNvPr>
          <p:cNvSpPr>
            <a:spLocks noGrp="1"/>
          </p:cNvSpPr>
          <p:nvPr>
            <p:ph type="title"/>
          </p:nvPr>
        </p:nvSpPr>
        <p:spPr/>
        <p:txBody>
          <a:bodyPr/>
          <a:lstStyle/>
          <a:p>
            <a:r>
              <a:rPr lang="en-US" u="sng" cap="none" dirty="0">
                <a:latin typeface="Algerian" panose="04020705040A02060702" pitchFamily="82" charset="0"/>
              </a:rPr>
              <a:t>camera detection system simulation</a:t>
            </a:r>
          </a:p>
        </p:txBody>
      </p:sp>
      <p:sp>
        <p:nvSpPr>
          <p:cNvPr id="3" name="Content Placeholder 2">
            <a:extLst>
              <a:ext uri="{FF2B5EF4-FFF2-40B4-BE49-F238E27FC236}">
                <a16:creationId xmlns:a16="http://schemas.microsoft.com/office/drawing/2014/main" id="{1C07B2B9-5167-B18B-9C45-D42390B4B334}"/>
              </a:ext>
            </a:extLst>
          </p:cNvPr>
          <p:cNvSpPr>
            <a:spLocks noGrp="1"/>
          </p:cNvSpPr>
          <p:nvPr>
            <p:ph sz="quarter" idx="13"/>
          </p:nvPr>
        </p:nvSpPr>
        <p:spPr>
          <a:xfrm>
            <a:off x="137920" y="2214694"/>
            <a:ext cx="4600335" cy="4643306"/>
          </a:xfrm>
        </p:spPr>
        <p:txBody>
          <a:bodyPr>
            <a:normAutofit/>
          </a:bodyPr>
          <a:lstStyle/>
          <a:p>
            <a:pPr marL="0" indent="0">
              <a:buNone/>
            </a:pPr>
            <a:r>
              <a:rPr lang="en-US" cap="none" dirty="0"/>
              <a:t>simulation of vehicle speed monitoring and fine calculation  .</a:t>
            </a:r>
          </a:p>
          <a:p>
            <a:pPr marL="0" indent="0">
              <a:buNone/>
            </a:pPr>
            <a:r>
              <a:rPr lang="en-US" b="1" u="sng" dirty="0">
                <a:solidFill>
                  <a:schemeClr val="accent3">
                    <a:lumMod val="20000"/>
                    <a:lumOff val="80000"/>
                  </a:schemeClr>
                </a:solidFill>
                <a:latin typeface="Arial Black" panose="020B0A04020102020204" pitchFamily="34" charset="0"/>
              </a:rPr>
              <a:t>Introduction &amp; Features </a:t>
            </a:r>
            <a:r>
              <a:rPr lang="en-US" b="1" dirty="0">
                <a:solidFill>
                  <a:schemeClr val="accent3">
                    <a:lumMod val="20000"/>
                    <a:lumOff val="80000"/>
                  </a:schemeClr>
                </a:solidFill>
                <a:latin typeface="Arial Black" panose="020B0A04020102020204" pitchFamily="34" charset="0"/>
              </a:rPr>
              <a:t>::</a:t>
            </a:r>
          </a:p>
          <a:p>
            <a:pPr marL="0" indent="0">
              <a:buNone/>
            </a:pPr>
            <a:r>
              <a:rPr lang="en-US" dirty="0">
                <a:solidFill>
                  <a:schemeClr val="bg2">
                    <a:lumMod val="50000"/>
                  </a:schemeClr>
                </a:solidFill>
                <a:latin typeface="Arial Black" panose="020B0A04020102020204" pitchFamily="34" charset="0"/>
              </a:rPr>
              <a:t>  </a:t>
            </a:r>
            <a:r>
              <a:rPr lang="en-US" cap="none" dirty="0">
                <a:latin typeface="Calibri" panose="020F0502020204030204" pitchFamily="34" charset="0"/>
                <a:ea typeface="Calibri" panose="020F0502020204030204" pitchFamily="34" charset="0"/>
                <a:cs typeface="Calibri" panose="020F0502020204030204" pitchFamily="34" charset="0"/>
              </a:rPr>
              <a:t>modern traffic systems use speed cameras to monitor vehicles detects vehicle speed automatically calculates fines based on speed violation tracks vehicle violations and payment status .</a:t>
            </a:r>
            <a:endParaRPr lang="en-US" dirty="0">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descr="Average Speed Cameras on UK Motorways Average Speed Cameras installed on UK Motorways measure and calculate the Vehicles average speed through sections of Motorway. the camera a traffic speed stock pictures, royalty-free photos &amp; images">
            <a:extLst>
              <a:ext uri="{FF2B5EF4-FFF2-40B4-BE49-F238E27FC236}">
                <a16:creationId xmlns:a16="http://schemas.microsoft.com/office/drawing/2014/main" id="{35CF910D-4D9D-37C4-5EAE-4CA84C7283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4949" y="2214694"/>
            <a:ext cx="6087341" cy="3922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2706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B4E2E-4F43-2262-72D6-66B43668A041}"/>
              </a:ext>
            </a:extLst>
          </p:cNvPr>
          <p:cNvSpPr>
            <a:spLocks noGrp="1"/>
          </p:cNvSpPr>
          <p:nvPr>
            <p:ph type="title"/>
          </p:nvPr>
        </p:nvSpPr>
        <p:spPr>
          <a:xfrm>
            <a:off x="1045706" y="332510"/>
            <a:ext cx="10100588" cy="974756"/>
          </a:xfrm>
        </p:spPr>
        <p:txBody>
          <a:bodyPr/>
          <a:lstStyle/>
          <a:p>
            <a:r>
              <a:rPr lang="en-US" b="1" u="sng" dirty="0">
                <a:latin typeface="Algerian" panose="04020705040A02060702" pitchFamily="82" charset="0"/>
              </a:rPr>
              <a:t>Speed Limits &amp; Fine Structures</a:t>
            </a:r>
          </a:p>
        </p:txBody>
      </p:sp>
      <p:sp>
        <p:nvSpPr>
          <p:cNvPr id="3" name="Content Placeholder 2">
            <a:extLst>
              <a:ext uri="{FF2B5EF4-FFF2-40B4-BE49-F238E27FC236}">
                <a16:creationId xmlns:a16="http://schemas.microsoft.com/office/drawing/2014/main" id="{EBE412C5-4F66-0206-C8CE-748442425A6C}"/>
              </a:ext>
            </a:extLst>
          </p:cNvPr>
          <p:cNvSpPr>
            <a:spLocks noGrp="1"/>
          </p:cNvSpPr>
          <p:nvPr>
            <p:ph sz="quarter" idx="13"/>
          </p:nvPr>
        </p:nvSpPr>
        <p:spPr>
          <a:xfrm>
            <a:off x="304800" y="1307267"/>
            <a:ext cx="3297382" cy="5218224"/>
          </a:xfrm>
        </p:spPr>
        <p:txBody>
          <a:bodyPr>
            <a:normAutofit lnSpcReduction="10000"/>
          </a:bodyPr>
          <a:lstStyle/>
          <a:p>
            <a:pPr marL="0" indent="0">
              <a:buNone/>
            </a:pPr>
            <a:r>
              <a:rPr lang="en-US" b="1" u="sng" cap="none" dirty="0">
                <a:solidFill>
                  <a:schemeClr val="accent2">
                    <a:lumMod val="20000"/>
                    <a:lumOff val="80000"/>
                  </a:schemeClr>
                </a:solidFill>
                <a:latin typeface="Calibri Light" panose="020F0302020204030204" pitchFamily="34" charset="0"/>
                <a:ea typeface="Calibri Light" panose="020F0302020204030204" pitchFamily="34" charset="0"/>
                <a:cs typeface="Calibri Light" panose="020F0302020204030204" pitchFamily="34" charset="0"/>
              </a:rPr>
              <a:t>SPEED LIMITS</a:t>
            </a:r>
          </a:p>
          <a:p>
            <a:r>
              <a:rPr lang="en-US" cap="none" dirty="0">
                <a:latin typeface="Calibri Light" panose="020F0302020204030204" pitchFamily="34" charset="0"/>
                <a:ea typeface="Calibri Light" panose="020F0302020204030204" pitchFamily="34" charset="0"/>
                <a:cs typeface="Calibri Light" panose="020F0302020204030204" pitchFamily="34" charset="0"/>
              </a:rPr>
              <a:t>city roads: 60 km/h</a:t>
            </a:r>
          </a:p>
          <a:p>
            <a:r>
              <a:rPr lang="en-US" cap="none" dirty="0">
                <a:latin typeface="Calibri Light" panose="020F0302020204030204" pitchFamily="34" charset="0"/>
                <a:ea typeface="Calibri Light" panose="020F0302020204030204" pitchFamily="34" charset="0"/>
                <a:cs typeface="Calibri Light" panose="020F0302020204030204" pitchFamily="34" charset="0"/>
              </a:rPr>
              <a:t>highways: 100 km/h</a:t>
            </a:r>
          </a:p>
          <a:p>
            <a:r>
              <a:rPr lang="en-US" cap="none" dirty="0">
                <a:latin typeface="Calibri Light" panose="020F0302020204030204" pitchFamily="34" charset="0"/>
                <a:ea typeface="Calibri Light" panose="020F0302020204030204" pitchFamily="34" charset="0"/>
                <a:cs typeface="Calibri Light" panose="020F0302020204030204" pitchFamily="34" charset="0"/>
              </a:rPr>
              <a:t>motorways: 120 km/h</a:t>
            </a:r>
          </a:p>
          <a:p>
            <a:pPr marL="0" indent="0">
              <a:buNone/>
            </a:pPr>
            <a:r>
              <a:rPr lang="en-US" b="1" u="sng" cap="none" dirty="0">
                <a:solidFill>
                  <a:schemeClr val="accent3">
                    <a:lumMod val="20000"/>
                    <a:lumOff val="80000"/>
                  </a:schemeClr>
                </a:solidFill>
                <a:latin typeface="Calibri Light" panose="020F0302020204030204" pitchFamily="34" charset="0"/>
                <a:ea typeface="Calibri Light" panose="020F0302020204030204" pitchFamily="34" charset="0"/>
                <a:cs typeface="Calibri Light" panose="020F0302020204030204" pitchFamily="34" charset="0"/>
              </a:rPr>
              <a:t>FINE STRUCTURE:</a:t>
            </a:r>
          </a:p>
          <a:p>
            <a:r>
              <a:rPr lang="en-US" cap="none" dirty="0">
                <a:latin typeface="Calibri Light" panose="020F0302020204030204" pitchFamily="34" charset="0"/>
                <a:ea typeface="Calibri Light" panose="020F0302020204030204" pitchFamily="34" charset="0"/>
                <a:cs typeface="Calibri Light" panose="020F0302020204030204" pitchFamily="34" charset="0"/>
              </a:rPr>
              <a:t>exceeded ≤10 km/h</a:t>
            </a:r>
          </a:p>
          <a:p>
            <a:r>
              <a:rPr lang="en-US" cap="none" dirty="0">
                <a:latin typeface="Calibri Light" panose="020F0302020204030204" pitchFamily="34" charset="0"/>
                <a:ea typeface="Calibri Light" panose="020F0302020204030204" pitchFamily="34" charset="0"/>
                <a:cs typeface="Calibri Light" panose="020F0302020204030204" pitchFamily="34" charset="0"/>
              </a:rPr>
              <a:t>Rs : 1000</a:t>
            </a:r>
          </a:p>
          <a:p>
            <a:r>
              <a:rPr lang="en-US" cap="none" dirty="0">
                <a:latin typeface="Calibri Light" panose="020F0302020204030204" pitchFamily="34" charset="0"/>
                <a:ea typeface="Calibri Light" panose="020F0302020204030204" pitchFamily="34" charset="0"/>
                <a:cs typeface="Calibri Light" panose="020F0302020204030204" pitchFamily="34" charset="0"/>
              </a:rPr>
              <a:t>exceeded ≤20 km/h</a:t>
            </a:r>
          </a:p>
          <a:p>
            <a:r>
              <a:rPr lang="en-US" cap="none" dirty="0">
                <a:latin typeface="Calibri Light" panose="020F0302020204030204" pitchFamily="34" charset="0"/>
                <a:ea typeface="Calibri Light" panose="020F0302020204030204" pitchFamily="34" charset="0"/>
                <a:cs typeface="Calibri Light" panose="020F0302020204030204" pitchFamily="34" charset="0"/>
              </a:rPr>
              <a:t>RS : 2000</a:t>
            </a:r>
          </a:p>
          <a:p>
            <a:r>
              <a:rPr lang="en-US" cap="none" dirty="0">
                <a:latin typeface="Calibri Light" panose="020F0302020204030204" pitchFamily="34" charset="0"/>
                <a:ea typeface="Calibri Light" panose="020F0302020204030204" pitchFamily="34" charset="0"/>
                <a:cs typeface="Calibri Light" panose="020F0302020204030204" pitchFamily="34" charset="0"/>
              </a:rPr>
              <a:t>exceeded &gt;20 km/h</a:t>
            </a:r>
          </a:p>
          <a:p>
            <a:r>
              <a:rPr lang="en-US" cap="none" dirty="0">
                <a:latin typeface="Calibri Light" panose="020F0302020204030204" pitchFamily="34" charset="0"/>
                <a:ea typeface="Calibri Light" panose="020F0302020204030204" pitchFamily="34" charset="0"/>
                <a:cs typeface="Calibri Light" panose="020F0302020204030204" pitchFamily="34" charset="0"/>
              </a:rPr>
              <a:t>RS : 5000</a:t>
            </a:r>
          </a:p>
        </p:txBody>
      </p:sp>
      <p:pic>
        <p:nvPicPr>
          <p:cNvPr id="1026" name="Picture 2" descr="14+ Thousand Traffic Speed Camera Royalty-Free Images, Stock ...">
            <a:extLst>
              <a:ext uri="{FF2B5EF4-FFF2-40B4-BE49-F238E27FC236}">
                <a16:creationId xmlns:a16="http://schemas.microsoft.com/office/drawing/2014/main" id="{A6D7C705-178C-8BC2-7AE1-22327722DC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242403"/>
            <a:ext cx="5888182" cy="3410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3013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3F05A-ECE4-204B-23C0-44A760585FA7}"/>
              </a:ext>
            </a:extLst>
          </p:cNvPr>
          <p:cNvSpPr>
            <a:spLocks noGrp="1"/>
          </p:cNvSpPr>
          <p:nvPr>
            <p:ph type="title"/>
          </p:nvPr>
        </p:nvSpPr>
        <p:spPr>
          <a:xfrm>
            <a:off x="761060" y="590808"/>
            <a:ext cx="10364451" cy="1596177"/>
          </a:xfrm>
        </p:spPr>
        <p:txBody>
          <a:bodyPr>
            <a:normAutofit/>
          </a:bodyPr>
          <a:lstStyle/>
          <a:p>
            <a:r>
              <a:rPr lang="en-US" sz="3200" u="sng" dirty="0">
                <a:latin typeface="Algerian" panose="04020705040A02060702" pitchFamily="82" charset="0"/>
              </a:rPr>
              <a:t> Menu Simulation Vehicle Records</a:t>
            </a:r>
          </a:p>
        </p:txBody>
      </p:sp>
      <p:sp>
        <p:nvSpPr>
          <p:cNvPr id="3" name="Content Placeholder 2">
            <a:extLst>
              <a:ext uri="{FF2B5EF4-FFF2-40B4-BE49-F238E27FC236}">
                <a16:creationId xmlns:a16="http://schemas.microsoft.com/office/drawing/2014/main" id="{5FA71F37-2556-F8D9-8B50-6FC026CECF1A}"/>
              </a:ext>
            </a:extLst>
          </p:cNvPr>
          <p:cNvSpPr>
            <a:spLocks noGrp="1"/>
          </p:cNvSpPr>
          <p:nvPr>
            <p:ph sz="quarter" idx="13"/>
          </p:nvPr>
        </p:nvSpPr>
        <p:spPr>
          <a:xfrm>
            <a:off x="913773" y="2050474"/>
            <a:ext cx="10059027" cy="4447308"/>
          </a:xfrm>
        </p:spPr>
        <p:txBody>
          <a:bodyPr>
            <a:normAutofit/>
          </a:bodyPr>
          <a:lstStyle/>
          <a:p>
            <a:pPr marL="0" indent="0" algn="ctr">
              <a:buNone/>
            </a:pPr>
            <a:r>
              <a:rPr lang="en-US" b="1" u="sng" cap="none" dirty="0">
                <a:latin typeface="Calibri Light" panose="020F0302020204030204" pitchFamily="34" charset="0"/>
                <a:ea typeface="Calibri Light" panose="020F0302020204030204" pitchFamily="34" charset="0"/>
                <a:cs typeface="Calibri Light" panose="020F0302020204030204" pitchFamily="34" charset="0"/>
              </a:rPr>
              <a:t> </a:t>
            </a:r>
            <a:r>
              <a:rPr lang="en-US" sz="2400" b="1" u="sng" cap="none" dirty="0">
                <a:latin typeface="Calibri Light" panose="020F0302020204030204" pitchFamily="34" charset="0"/>
                <a:ea typeface="Calibri Light" panose="020F0302020204030204" pitchFamily="34" charset="0"/>
                <a:cs typeface="Calibri Light" panose="020F0302020204030204" pitchFamily="34" charset="0"/>
              </a:rPr>
              <a:t>MENU OPTIONS:</a:t>
            </a:r>
            <a:endParaRPr lang="en-US" b="1" u="sng" cap="none" dirty="0">
              <a:latin typeface="Calibri Light" panose="020F0302020204030204" pitchFamily="34" charset="0"/>
              <a:ea typeface="Calibri Light" panose="020F0302020204030204" pitchFamily="34" charset="0"/>
              <a:cs typeface="Calibri Light" panose="020F0302020204030204" pitchFamily="34" charset="0"/>
            </a:endParaRPr>
          </a:p>
          <a:p>
            <a:r>
              <a:rPr lang="en-US" cap="none" dirty="0">
                <a:latin typeface="Calibri Light" panose="020F0302020204030204" pitchFamily="34" charset="0"/>
                <a:ea typeface="Calibri Light" panose="020F0302020204030204" pitchFamily="34" charset="0"/>
                <a:cs typeface="Calibri Light" panose="020F0302020204030204" pitchFamily="34" charset="0"/>
              </a:rPr>
              <a:t>enter vehicle record</a:t>
            </a:r>
          </a:p>
          <a:p>
            <a:r>
              <a:rPr lang="en-US" cap="none" dirty="0">
                <a:latin typeface="Calibri Light" panose="020F0302020204030204" pitchFamily="34" charset="0"/>
                <a:ea typeface="Calibri Light" panose="020F0302020204030204" pitchFamily="34" charset="0"/>
                <a:cs typeface="Calibri Light" panose="020F0302020204030204" pitchFamily="34" charset="0"/>
              </a:rPr>
              <a:t>view all violations </a:t>
            </a:r>
          </a:p>
          <a:p>
            <a:r>
              <a:rPr lang="en-US" cap="none" dirty="0">
                <a:latin typeface="Calibri Light" panose="020F0302020204030204" pitchFamily="34" charset="0"/>
                <a:ea typeface="Calibri Light" panose="020F0302020204030204" pitchFamily="34" charset="0"/>
                <a:cs typeface="Calibri Light" panose="020F0302020204030204" pitchFamily="34" charset="0"/>
              </a:rPr>
              <a:t>search vehicle </a:t>
            </a:r>
          </a:p>
          <a:p>
            <a:r>
              <a:rPr lang="en-US" cap="none" dirty="0">
                <a:latin typeface="Calibri Light" panose="020F0302020204030204" pitchFamily="34" charset="0"/>
                <a:ea typeface="Calibri Light" panose="020F0302020204030204" pitchFamily="34" charset="0"/>
                <a:cs typeface="Calibri Light" panose="020F0302020204030204" pitchFamily="34" charset="0"/>
              </a:rPr>
              <a:t>Pay unpaid fine</a:t>
            </a:r>
          </a:p>
          <a:p>
            <a:r>
              <a:rPr lang="en-US" cap="none" dirty="0">
                <a:latin typeface="Calibri Light" panose="020F0302020204030204" pitchFamily="34" charset="0"/>
                <a:ea typeface="Calibri Light" panose="020F0302020204030204" pitchFamily="34" charset="0"/>
                <a:cs typeface="Calibri Light" panose="020F0302020204030204" pitchFamily="34" charset="0"/>
              </a:rPr>
              <a:t>Calculate unpaid fine</a:t>
            </a:r>
          </a:p>
          <a:p>
            <a:r>
              <a:rPr lang="en-US" cap="none" dirty="0">
                <a:latin typeface="Calibri Light" panose="020F0302020204030204" pitchFamily="34" charset="0"/>
                <a:ea typeface="Calibri Light" panose="020F0302020204030204" pitchFamily="34" charset="0"/>
                <a:cs typeface="Calibri Light" panose="020F0302020204030204" pitchFamily="34" charset="0"/>
              </a:rPr>
              <a:t>exit program</a:t>
            </a:r>
          </a:p>
        </p:txBody>
      </p:sp>
    </p:spTree>
    <p:extLst>
      <p:ext uri="{BB962C8B-B14F-4D97-AF65-F5344CB8AC3E}">
        <p14:creationId xmlns:p14="http://schemas.microsoft.com/office/powerpoint/2010/main" val="1271472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117B9-0CB4-7F60-9116-9B5968C40B50}"/>
              </a:ext>
            </a:extLst>
          </p:cNvPr>
          <p:cNvSpPr>
            <a:spLocks noGrp="1"/>
          </p:cNvSpPr>
          <p:nvPr>
            <p:ph type="title"/>
          </p:nvPr>
        </p:nvSpPr>
        <p:spPr/>
        <p:txBody>
          <a:bodyPr/>
          <a:lstStyle/>
          <a:p>
            <a:r>
              <a:rPr lang="en-US" dirty="0">
                <a:latin typeface="Algerian" panose="04020705040A02060702" pitchFamily="82" charset="0"/>
              </a:rPr>
              <a:t>VEHICLE RECORD DATA</a:t>
            </a:r>
          </a:p>
        </p:txBody>
      </p:sp>
      <p:sp>
        <p:nvSpPr>
          <p:cNvPr id="3" name="Content Placeholder 2">
            <a:extLst>
              <a:ext uri="{FF2B5EF4-FFF2-40B4-BE49-F238E27FC236}">
                <a16:creationId xmlns:a16="http://schemas.microsoft.com/office/drawing/2014/main" id="{1F5103D7-2148-AC93-4498-049203B18040}"/>
              </a:ext>
            </a:extLst>
          </p:cNvPr>
          <p:cNvSpPr>
            <a:spLocks noGrp="1"/>
          </p:cNvSpPr>
          <p:nvPr>
            <p:ph sz="quarter" idx="13"/>
          </p:nvPr>
        </p:nvSpPr>
        <p:spPr/>
        <p:txBody>
          <a:bodyPr>
            <a:normAutofit fontScale="92500" lnSpcReduction="10000"/>
          </a:bodyPr>
          <a:lstStyle/>
          <a:p>
            <a:pPr marL="0" indent="0" algn="ctr">
              <a:buNone/>
            </a:pPr>
            <a:endParaRPr lang="en-US" b="1" u="sng" cap="none" dirty="0">
              <a:latin typeface="Calibri Light" panose="020F0302020204030204" pitchFamily="34" charset="0"/>
              <a:ea typeface="Calibri Light" panose="020F0302020204030204" pitchFamily="34" charset="0"/>
              <a:cs typeface="Calibri Light" panose="020F0302020204030204" pitchFamily="34" charset="0"/>
            </a:endParaRPr>
          </a:p>
          <a:p>
            <a:pPr>
              <a:buFont typeface="Wingdings" panose="05000000000000000000" pitchFamily="2" charset="2"/>
              <a:buChar char="q"/>
            </a:pPr>
            <a:r>
              <a:rPr lang="en-US" sz="2400" cap="none" dirty="0">
                <a:latin typeface="Calibri Light" panose="020F0302020204030204" pitchFamily="34" charset="0"/>
                <a:ea typeface="Calibri Light" panose="020F0302020204030204" pitchFamily="34" charset="0"/>
                <a:cs typeface="Calibri Light" panose="020F0302020204030204" pitchFamily="34" charset="0"/>
              </a:rPr>
              <a:t>     vehicle number</a:t>
            </a:r>
          </a:p>
          <a:p>
            <a:pPr>
              <a:buFont typeface="Wingdings" panose="05000000000000000000" pitchFamily="2" charset="2"/>
              <a:buChar char="q"/>
            </a:pPr>
            <a:r>
              <a:rPr lang="en-US" sz="2400" cap="none" dirty="0">
                <a:latin typeface="Calibri Light" panose="020F0302020204030204" pitchFamily="34" charset="0"/>
                <a:ea typeface="Calibri Light" panose="020F0302020204030204" pitchFamily="34" charset="0"/>
                <a:cs typeface="Calibri Light" panose="020F0302020204030204" pitchFamily="34" charset="0"/>
              </a:rPr>
              <a:t>    speed</a:t>
            </a:r>
          </a:p>
          <a:p>
            <a:pPr>
              <a:buFont typeface="Wingdings" panose="05000000000000000000" pitchFamily="2" charset="2"/>
              <a:buChar char="q"/>
            </a:pPr>
            <a:r>
              <a:rPr lang="en-US" sz="2400" cap="none" dirty="0">
                <a:latin typeface="Calibri Light" panose="020F0302020204030204" pitchFamily="34" charset="0"/>
                <a:ea typeface="Calibri Light" panose="020F0302020204030204" pitchFamily="34" charset="0"/>
                <a:cs typeface="Calibri Light" panose="020F0302020204030204" pitchFamily="34" charset="0"/>
              </a:rPr>
              <a:t>    road type</a:t>
            </a:r>
          </a:p>
          <a:p>
            <a:pPr>
              <a:buFont typeface="Wingdings" panose="05000000000000000000" pitchFamily="2" charset="2"/>
              <a:buChar char="q"/>
            </a:pPr>
            <a:r>
              <a:rPr lang="en-US" sz="2400" cap="none" dirty="0">
                <a:latin typeface="Calibri Light" panose="020F0302020204030204" pitchFamily="34" charset="0"/>
                <a:ea typeface="Calibri Light" panose="020F0302020204030204" pitchFamily="34" charset="0"/>
                <a:cs typeface="Calibri Light" panose="020F0302020204030204" pitchFamily="34" charset="0"/>
              </a:rPr>
              <a:t>    Speed limit</a:t>
            </a:r>
          </a:p>
          <a:p>
            <a:pPr>
              <a:buFont typeface="Wingdings" panose="05000000000000000000" pitchFamily="2" charset="2"/>
              <a:buChar char="q"/>
            </a:pPr>
            <a:r>
              <a:rPr lang="en-US" sz="2400" cap="none" dirty="0">
                <a:latin typeface="Calibri Light" panose="020F0302020204030204" pitchFamily="34" charset="0"/>
                <a:ea typeface="Calibri Light" panose="020F0302020204030204" pitchFamily="34" charset="0"/>
                <a:cs typeface="Calibri Light" panose="020F0302020204030204" pitchFamily="34" charset="0"/>
              </a:rPr>
              <a:t>    Fine</a:t>
            </a:r>
          </a:p>
          <a:p>
            <a:pPr>
              <a:buFont typeface="Wingdings" panose="05000000000000000000" pitchFamily="2" charset="2"/>
              <a:buChar char="q"/>
            </a:pPr>
            <a:r>
              <a:rPr lang="en-US" sz="2400" cap="none" dirty="0">
                <a:latin typeface="Calibri Light" panose="020F0302020204030204" pitchFamily="34" charset="0"/>
                <a:ea typeface="Calibri Light" panose="020F0302020204030204" pitchFamily="34" charset="0"/>
                <a:cs typeface="Calibri Light" panose="020F0302020204030204" pitchFamily="34" charset="0"/>
              </a:rPr>
              <a:t>    Fine status</a:t>
            </a:r>
          </a:p>
          <a:p>
            <a:endParaRPr lang="en-US" dirty="0"/>
          </a:p>
        </p:txBody>
      </p:sp>
      <p:pic>
        <p:nvPicPr>
          <p:cNvPr id="5122" name="Picture 2" descr="Surveillance cameras in front of blue sky Camera surveillance for traffic monitoring Camming Device Stock Photo">
            <a:extLst>
              <a:ext uri="{FF2B5EF4-FFF2-40B4-BE49-F238E27FC236}">
                <a16:creationId xmlns:a16="http://schemas.microsoft.com/office/drawing/2014/main" id="{11B8E4BA-4DF3-9572-6D0A-A1AA46CE7A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2715490"/>
            <a:ext cx="5915891" cy="3269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7519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3DAA7-3982-BEA6-84AE-1F928D42D860}"/>
              </a:ext>
            </a:extLst>
          </p:cNvPr>
          <p:cNvSpPr>
            <a:spLocks noGrp="1"/>
          </p:cNvSpPr>
          <p:nvPr>
            <p:ph type="title"/>
          </p:nvPr>
        </p:nvSpPr>
        <p:spPr/>
        <p:txBody>
          <a:bodyPr/>
          <a:lstStyle/>
          <a:p>
            <a:r>
              <a:rPr lang="en-US" cap="none" dirty="0">
                <a:latin typeface="Calibri Light" panose="020F0302020204030204" pitchFamily="34" charset="0"/>
                <a:ea typeface="Calibri Light" panose="020F0302020204030204" pitchFamily="34" charset="0"/>
                <a:cs typeface="Calibri Light" panose="020F0302020204030204" pitchFamily="34" charset="0"/>
              </a:rPr>
              <a:t>benefits of simulation understand how speed cameras enforce traffic rules</a:t>
            </a:r>
          </a:p>
        </p:txBody>
      </p:sp>
      <p:sp>
        <p:nvSpPr>
          <p:cNvPr id="3" name="Content Placeholder 2">
            <a:extLst>
              <a:ext uri="{FF2B5EF4-FFF2-40B4-BE49-F238E27FC236}">
                <a16:creationId xmlns:a16="http://schemas.microsoft.com/office/drawing/2014/main" id="{A10EFCD5-2580-5972-160E-60F0292B9375}"/>
              </a:ext>
            </a:extLst>
          </p:cNvPr>
          <p:cNvSpPr>
            <a:spLocks noGrp="1"/>
          </p:cNvSpPr>
          <p:nvPr>
            <p:ph sz="quarter" idx="13"/>
          </p:nvPr>
        </p:nvSpPr>
        <p:spPr>
          <a:xfrm>
            <a:off x="1149301" y="2207767"/>
            <a:ext cx="3007063" cy="3424107"/>
          </a:xfrm>
        </p:spPr>
        <p:txBody>
          <a:bodyPr>
            <a:normAutofit lnSpcReduction="10000"/>
          </a:bodyPr>
          <a:lstStyle/>
          <a:p>
            <a:pPr marL="0" indent="0">
              <a:buNone/>
            </a:pPr>
            <a:r>
              <a:rPr lang="en-US" cap="none" dirty="0"/>
              <a:t>                              benefits of simulation: understand how speed cameras enforce traffic rules</a:t>
            </a:r>
          </a:p>
          <a:p>
            <a:r>
              <a:rPr lang="en-US" cap="none" dirty="0"/>
              <a:t> learn automated fine calculation </a:t>
            </a:r>
          </a:p>
          <a:p>
            <a:r>
              <a:rPr lang="en-US" cap="none" dirty="0"/>
              <a:t>demonstrates real-world traffic monitoring</a:t>
            </a:r>
          </a:p>
        </p:txBody>
      </p:sp>
      <p:pic>
        <p:nvPicPr>
          <p:cNvPr id="3074" name="Picture 2" descr="British traffic police officer stops the car and warning drivers to do not exceed the speed limit. Front view. British traffic police officer stops the car and warning drivers to do not exceed the speed limit. Front view. Flat vector illustration template. speed limit cross police arrected underline ot stock illustrations">
            <a:extLst>
              <a:ext uri="{FF2B5EF4-FFF2-40B4-BE49-F238E27FC236}">
                <a16:creationId xmlns:a16="http://schemas.microsoft.com/office/drawing/2014/main" id="{371D8FA8-B830-6C08-9090-38F15DA48A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5891" y="2382982"/>
            <a:ext cx="4197928" cy="3424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46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6B848-7B3B-8334-722B-374E9748FF00}"/>
              </a:ext>
            </a:extLst>
          </p:cNvPr>
          <p:cNvSpPr>
            <a:spLocks noGrp="1"/>
          </p:cNvSpPr>
          <p:nvPr>
            <p:ph type="title"/>
          </p:nvPr>
        </p:nvSpPr>
        <p:spPr>
          <a:xfrm>
            <a:off x="913774" y="978736"/>
            <a:ext cx="10364451" cy="1388355"/>
          </a:xfrm>
        </p:spPr>
        <p:txBody>
          <a:bodyPr>
            <a:normAutofit/>
          </a:bodyPr>
          <a:lstStyle/>
          <a:p>
            <a:r>
              <a:rPr lang="en-US" sz="3200" b="1" u="sng" cap="none" dirty="0">
                <a:latin typeface="Algerian" panose="04020705040A02060702" pitchFamily="82" charset="0"/>
              </a:rPr>
              <a:t>conclusion </a:t>
            </a:r>
            <a:endParaRPr lang="en-US" sz="3200" b="1" u="sng" dirty="0">
              <a:latin typeface="Algerian" panose="04020705040A02060702" pitchFamily="82" charset="0"/>
            </a:endParaRPr>
          </a:p>
        </p:txBody>
      </p:sp>
      <p:sp>
        <p:nvSpPr>
          <p:cNvPr id="3" name="Content Placeholder 2">
            <a:extLst>
              <a:ext uri="{FF2B5EF4-FFF2-40B4-BE49-F238E27FC236}">
                <a16:creationId xmlns:a16="http://schemas.microsoft.com/office/drawing/2014/main" id="{3D064EAC-610E-26FA-3B03-92C4B73BD730}"/>
              </a:ext>
            </a:extLst>
          </p:cNvPr>
          <p:cNvSpPr>
            <a:spLocks noGrp="1"/>
          </p:cNvSpPr>
          <p:nvPr>
            <p:ph sz="quarter" idx="13"/>
          </p:nvPr>
        </p:nvSpPr>
        <p:spPr>
          <a:xfrm>
            <a:off x="913774" y="2367092"/>
            <a:ext cx="5625571" cy="4213817"/>
          </a:xfrm>
        </p:spPr>
        <p:txBody>
          <a:bodyPr>
            <a:normAutofit/>
          </a:bodyPr>
          <a:lstStyle/>
          <a:p>
            <a:pPr marL="0" indent="0" algn="ctr">
              <a:buNone/>
            </a:pPr>
            <a:endParaRPr lang="en-US" cap="none" dirty="0"/>
          </a:p>
          <a:p>
            <a:pPr marL="0" indent="0" algn="ctr">
              <a:buNone/>
            </a:pPr>
            <a:r>
              <a:rPr lang="en-US" cap="none" dirty="0"/>
              <a:t> </a:t>
            </a:r>
            <a:r>
              <a:rPr lang="en-US" u="sng" cap="none" dirty="0">
                <a:latin typeface="Algerian" panose="04020705040A02060702" pitchFamily="82" charset="0"/>
              </a:rPr>
              <a:t>this project simplified representation of real speed camera systems </a:t>
            </a:r>
          </a:p>
          <a:p>
            <a:pPr>
              <a:buFont typeface="Wingdings" panose="05000000000000000000" pitchFamily="2" charset="2"/>
              <a:buChar char="q"/>
            </a:pPr>
            <a:r>
              <a:rPr lang="en-US" cap="none" dirty="0"/>
              <a:t>   highlights speed monitoring,</a:t>
            </a:r>
          </a:p>
          <a:p>
            <a:pPr>
              <a:buFont typeface="Wingdings" panose="05000000000000000000" pitchFamily="2" charset="2"/>
              <a:buChar char="q"/>
            </a:pPr>
            <a:r>
              <a:rPr lang="en-US" cap="none" dirty="0"/>
              <a:t>   violation detection</a:t>
            </a:r>
          </a:p>
          <a:p>
            <a:pPr>
              <a:buFont typeface="Wingdings" panose="05000000000000000000" pitchFamily="2" charset="2"/>
              <a:buChar char="q"/>
            </a:pPr>
            <a:r>
              <a:rPr lang="en-US" cap="none" dirty="0"/>
              <a:t>  fine management helps students and traffic authorities understand automated enforcement systems .</a:t>
            </a:r>
          </a:p>
          <a:p>
            <a:pPr marL="0" indent="0">
              <a:buNone/>
            </a:pPr>
            <a:r>
              <a:rPr lang="en-US" dirty="0"/>
              <a:t> </a:t>
            </a:r>
          </a:p>
        </p:txBody>
      </p:sp>
      <p:pic>
        <p:nvPicPr>
          <p:cNvPr id="4098" name="Picture 2" descr="Speed Limit Sign 60 Traffic Regulation Road Sign For Safety And Compliance On Highways A standard road sign displaying the speed limit of 60 mph/kmh. Clear typography and bold framing convey regulatory safety, guiding drivers to reduce speed in zones requiring caution. speed limit cross violation cause pic stock illustrations">
            <a:extLst>
              <a:ext uri="{FF2B5EF4-FFF2-40B4-BE49-F238E27FC236}">
                <a16:creationId xmlns:a16="http://schemas.microsoft.com/office/drawing/2014/main" id="{8C39823F-980D-EE97-71CB-B7670B3D75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64582" y="2549236"/>
            <a:ext cx="3380509" cy="3172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9369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814059-55BD-19EB-461E-79418AD6205B}"/>
              </a:ext>
            </a:extLst>
          </p:cNvPr>
          <p:cNvSpPr txBox="1"/>
          <p:nvPr/>
        </p:nvSpPr>
        <p:spPr>
          <a:xfrm>
            <a:off x="3311236" y="2687781"/>
            <a:ext cx="5624946" cy="1938992"/>
          </a:xfrm>
          <a:prstGeom prst="rect">
            <a:avLst/>
          </a:prstGeom>
          <a:noFill/>
        </p:spPr>
        <p:txBody>
          <a:bodyPr wrap="square" rtlCol="0">
            <a:spAutoFit/>
          </a:bodyPr>
          <a:lstStyle/>
          <a:p>
            <a:r>
              <a:rPr lang="en-US" dirty="0"/>
              <a:t>                                </a:t>
            </a:r>
          </a:p>
          <a:p>
            <a:r>
              <a:rPr lang="en-US" dirty="0"/>
              <a:t>               </a:t>
            </a:r>
            <a:r>
              <a:rPr lang="en-US" sz="4800" b="1" u="sng" dirty="0">
                <a:solidFill>
                  <a:schemeClr val="tx2">
                    <a:lumMod val="20000"/>
                    <a:lumOff val="80000"/>
                  </a:schemeClr>
                </a:solidFill>
                <a:latin typeface="Algerian" panose="04020705040A02060702" pitchFamily="82" charset="0"/>
              </a:rPr>
              <a:t>Thank   You</a:t>
            </a:r>
          </a:p>
          <a:p>
            <a:endParaRPr lang="en-US" dirty="0"/>
          </a:p>
          <a:p>
            <a:endParaRPr lang="en-US" dirty="0"/>
          </a:p>
          <a:p>
            <a:endParaRPr lang="en-US" dirty="0"/>
          </a:p>
        </p:txBody>
      </p:sp>
    </p:spTree>
    <p:extLst>
      <p:ext uri="{BB962C8B-B14F-4D97-AF65-F5344CB8AC3E}">
        <p14:creationId xmlns:p14="http://schemas.microsoft.com/office/powerpoint/2010/main" val="396981556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4B4B4B"/>
      </a:dk2>
      <a:lt2>
        <a:srgbClr val="B5B5B5"/>
      </a:lt2>
      <a:accent1>
        <a:srgbClr val="9AC43E"/>
      </a:accent1>
      <a:accent2>
        <a:srgbClr val="44BA98"/>
      </a:accent2>
      <a:accent3>
        <a:srgbClr val="43A9D9"/>
      </a:accent3>
      <a:accent4>
        <a:srgbClr val="6274D8"/>
      </a:accent4>
      <a:accent5>
        <a:srgbClr val="AB54D7"/>
      </a:accent5>
      <a:accent6>
        <a:srgbClr val="D15B37"/>
      </a:accent6>
      <a:hlink>
        <a:srgbClr val="BFE962"/>
      </a:hlink>
      <a:folHlink>
        <a:srgbClr val="C0D591"/>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892FADA9-420D-4323-A7A4-C1060166525B}"/>
    </a:ext>
  </a:extLst>
</a:theme>
</file>

<file path=docProps/app.xml><?xml version="1.0" encoding="utf-8"?>
<Properties xmlns="http://schemas.openxmlformats.org/officeDocument/2006/extended-properties" xmlns:vt="http://schemas.openxmlformats.org/officeDocument/2006/docPropsVTypes">
  <Template>TM04033925[[fn=Droplet]]</Template>
  <TotalTime>96</TotalTime>
  <Words>221</Words>
  <Application>Microsoft Office PowerPoint</Application>
  <PresentationFormat>Widescreen</PresentationFormat>
  <Paragraphs>49</Paragraphs>
  <Slides>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Algerian</vt:lpstr>
      <vt:lpstr>Arial</vt:lpstr>
      <vt:lpstr>Arial Black</vt:lpstr>
      <vt:lpstr>Calibri</vt:lpstr>
      <vt:lpstr>Calibri Light</vt:lpstr>
      <vt:lpstr>Tw Cen MT</vt:lpstr>
      <vt:lpstr>Wingdings</vt:lpstr>
      <vt:lpstr>Droplet</vt:lpstr>
      <vt:lpstr>Simulation of a speed camera detection system</vt:lpstr>
      <vt:lpstr>camera detection system simulation</vt:lpstr>
      <vt:lpstr>Speed Limits &amp; Fine Structures</vt:lpstr>
      <vt:lpstr> Menu Simulation Vehicle Records</vt:lpstr>
      <vt:lpstr>VEHICLE RECORD DATA</vt:lpstr>
      <vt:lpstr>benefits of simulation understand how speed cameras enforce traffic rules</vt:lpstr>
      <vt:lpstr>conclusion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Yesssh</dc:creator>
  <cp:lastModifiedBy>Yesssh</cp:lastModifiedBy>
  <cp:revision>4</cp:revision>
  <dcterms:created xsi:type="dcterms:W3CDTF">2026-02-19T00:47:10Z</dcterms:created>
  <dcterms:modified xsi:type="dcterms:W3CDTF">2026-04-21T16:30:07Z</dcterms:modified>
</cp:coreProperties>
</file>